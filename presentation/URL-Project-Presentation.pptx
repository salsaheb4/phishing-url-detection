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Machine Learning-Based Detection of
Phishing Web Pages Using URL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88920"/>
            <a:ext cx="1109472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953512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Saleh Alsaheb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64992"/>
            <a:ext cx="4114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8C0D0"/>
                </a:solidFill>
                <a:latin typeface="Calibri"/>
              </a:rPr>
              <a:t>20220045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1">
                <a:solidFill>
                  <a:srgbClr val="A8C0D0"/>
                </a:solidFill>
                <a:latin typeface="Calibri"/>
              </a:rPr>
              <a:t>sal20220045@std.psut.edu.jo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953512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Ismael Alhindi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3364992"/>
            <a:ext cx="4114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8C0D0"/>
                </a:solidFill>
                <a:latin typeface="Calibri"/>
              </a:rPr>
              <a:t>20220379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6576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1">
                <a:solidFill>
                  <a:srgbClr val="A8C0D0"/>
                </a:solidFill>
                <a:latin typeface="Calibri"/>
              </a:rPr>
              <a:t>ism20220379@std.psut.edu.jo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96512"/>
            <a:ext cx="1109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8C0D0"/>
                </a:solidFill>
                <a:latin typeface="Calibri"/>
              </a:rPr>
              <a:t>Networks and Information Security Engineering  ·  Princess Sumaya University for Technology (PSUT)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43984"/>
            <a:ext cx="1109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0C8FF"/>
                </a:solidFill>
                <a:latin typeface="Calibri"/>
              </a:rPr>
              <a:t>Artificial Intelligence  ·  Final Project  · 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793992"/>
            <a:ext cx="121920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1826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243840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41148" cy="8229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77240"/>
            <a:ext cx="5303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 i="0">
                <a:solidFill>
                  <a:srgbClr val="00C8FF"/>
                </a:solidFill>
                <a:latin typeface="Calibri"/>
              </a:rPr>
              <a:t>Phishing pages impersonate trusted sites to steal
credentials, passwords, and financial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41148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5303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 i="0">
                <a:solidFill>
                  <a:srgbClr val="FFFFFF"/>
                </a:solidFill>
                <a:latin typeface="Calibri"/>
              </a:rPr>
              <a:t>Static rule lists and manual review cannot
scale to millions of new URLs per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46120"/>
            <a:ext cx="41148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5303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 i="0">
                <a:solidFill>
                  <a:srgbClr val="FFFFFF"/>
                </a:solidFill>
                <a:latin typeface="Calibri"/>
              </a:rPr>
              <a:t>Automated, lightweight URL-based ML detection
provides a fast first line of defense.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72000"/>
            <a:ext cx="5486400" cy="6858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45152"/>
            <a:ext cx="5120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0C8FF"/>
                </a:solidFill>
                <a:latin typeface="Calibri"/>
              </a:rPr>
              <a:t>Goal: Classify URLs as phishing or legitimate using supervised ML on lexical features only.</a:t>
            </a:r>
          </a:p>
        </p:txBody>
      </p:sp>
      <p:pic>
        <p:nvPicPr>
          <p:cNvPr id="16" name="Picture 15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777240"/>
            <a:ext cx="45720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1826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365760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22960"/>
            <a:ext cx="2131161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822960"/>
            <a:ext cx="2131161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52144"/>
            <a:ext cx="2131161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100,077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01952"/>
            <a:ext cx="2131161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8C0D0"/>
                </a:solidFill>
                <a:latin typeface="Calibri"/>
              </a:rPr>
              <a:t>Raw Rows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8089" y="822960"/>
            <a:ext cx="2131161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8089" y="822960"/>
            <a:ext cx="2131161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8089" y="1152144"/>
            <a:ext cx="2131161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21,891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8089" y="1901952"/>
            <a:ext cx="2131161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8C0D0"/>
                </a:solidFill>
                <a:latin typeface="Calibri"/>
              </a:rPr>
              <a:t>Unique Rows
(after dedup)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0418" y="822960"/>
            <a:ext cx="2131161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30418" y="822960"/>
            <a:ext cx="2131161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0418" y="1152144"/>
            <a:ext cx="2131161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0418" y="1901952"/>
            <a:ext cx="2131161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8C0D0"/>
                </a:solidFill>
                <a:latin typeface="Calibri"/>
              </a:rPr>
              <a:t>URL Features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2747" y="822960"/>
            <a:ext cx="2131161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2747" y="822960"/>
            <a:ext cx="2131161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2747" y="1152144"/>
            <a:ext cx="2131161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72.5%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2747" y="1901952"/>
            <a:ext cx="2131161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8C0D0"/>
                </a:solidFill>
                <a:latin typeface="Calibri"/>
              </a:rPr>
              <a:t>Phishing
Class Share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5076" y="822960"/>
            <a:ext cx="2131161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5076" y="822960"/>
            <a:ext cx="2131161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5076" y="1152144"/>
            <a:ext cx="2131161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Kaggle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5076" y="1901952"/>
            <a:ext cx="2131161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8C0D0"/>
                </a:solidFill>
                <a:latin typeface="Calibri"/>
              </a:rPr>
              <a:t>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743200"/>
            <a:ext cx="1146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A8C0D0"/>
                </a:solidFill>
                <a:latin typeface="Calibri"/>
              </a:rPr>
              <a:t>Kaggle Web Page Phishing Dataset  ·  19 numerical URL-derived features  ·  Binary target: phishing (1) / legitimate (0)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200400"/>
            <a:ext cx="1146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00C8FF"/>
                </a:solidFill>
                <a:latin typeface="Calibri"/>
              </a:rPr>
              <a:t>url_length  ·  n_dots  ·  n_hypens  ·  n_slash  ·  n_questionmark  ·  n_redirection  ·  n_at  ·  n_percent  ·  n_equal  ·  n_dollar  ·  …+9 more</a:t>
            </a:r>
          </a:p>
        </p:txBody>
      </p:sp>
      <p:pic>
        <p:nvPicPr>
          <p:cNvPr id="30" name="Picture 29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3657600"/>
            <a:ext cx="59436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1826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487680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484632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777240"/>
            <a:ext cx="4846320" cy="2926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95528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Original Features (19)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24712"/>
            <a:ext cx="4572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url_length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n_dots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n_hypens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n_underline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n_slash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n_questionmark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n_equal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n_at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n_and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n_exclamation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n_space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n_tilde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n_comma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n_plus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n_asterisk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n_hastag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n_dollar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n_percent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A8C0D0"/>
                </a:solidFill>
                <a:latin typeface="Calibri"/>
              </a:rPr>
              <a:t>· n_redirection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777240"/>
            <a:ext cx="484632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777240"/>
            <a:ext cx="4846320" cy="292608"/>
          </a:xfrm>
          <a:prstGeom prst="rect">
            <a:avLst/>
          </a:prstGeom>
          <a:solidFill>
            <a:srgbClr val="00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95528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00C8FF"/>
                </a:solidFill>
                <a:latin typeface="Calibri"/>
              </a:rPr>
              <a:t>Engineered Features (+6)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161288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total_special_chars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344168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C0D0"/>
                </a:solidFill>
                <a:latin typeface="Calibri"/>
              </a:rPr>
              <a:t>Sum of all special character 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1527048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symbol_ratio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709928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C0D0"/>
                </a:solidFill>
                <a:latin typeface="Calibri"/>
              </a:rPr>
              <a:t>total_special_chars / (url_length + 1)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892808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has_redirect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075688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C0D0"/>
                </a:solidFill>
                <a:latin typeface="Calibri"/>
              </a:rPr>
              <a:t>Binary: 1 if n_redirection &gt;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258568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has_at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441448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C0D0"/>
                </a:solidFill>
                <a:latin typeface="Calibri"/>
              </a:rPr>
              <a:t>Binary: 1 if n_at &gt;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24328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slash_dot_ratio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2807208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C0D0"/>
                </a:solidFill>
                <a:latin typeface="Calibri"/>
              </a:rPr>
              <a:t>n_slash / (n_dots + 1)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990088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url_length_log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3172968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C0D0"/>
                </a:solidFill>
                <a:latin typeface="Calibri"/>
              </a:rPr>
              <a:t>log(url_length + 1)</a:t>
            </a:r>
          </a:p>
        </p:txBody>
      </p:sp>
      <p:pic>
        <p:nvPicPr>
          <p:cNvPr id="27" name="Picture 26" descr="top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520440"/>
            <a:ext cx="86868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1826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ML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609600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1417755" cy="1417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1417755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325880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C0D0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14177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020824"/>
            <a:ext cx="132631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8C0D0"/>
                </a:solidFill>
                <a:latin typeface="Calibri"/>
              </a:rPr>
              <a:t>CSV → DataFrame</a:t>
            </a:r>
          </a:p>
        </p:txBody>
      </p:sp>
      <p:sp>
        <p:nvSpPr>
          <p:cNvPr id="13" name="Can 12"/>
          <p:cNvSpPr/>
          <p:nvPr/>
        </p:nvSpPr>
        <p:spPr>
          <a:xfrm>
            <a:off x="1783515" y="1691640"/>
            <a:ext cx="256032" cy="320040"/>
          </a:xfrm>
          <a:prstGeom prst="ca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39547" y="1143000"/>
            <a:ext cx="1417755" cy="1417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39547" y="1143000"/>
            <a:ext cx="1417755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12699" y="1325880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C0D0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9547" y="1563624"/>
            <a:ext cx="14177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5267" y="2020824"/>
            <a:ext cx="132631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8C0D0"/>
                </a:solidFill>
                <a:latin typeface="Calibri"/>
              </a:rPr>
              <a:t>Drop 78K dupes</a:t>
            </a:r>
          </a:p>
        </p:txBody>
      </p:sp>
      <p:sp>
        <p:nvSpPr>
          <p:cNvPr id="19" name="Can 18"/>
          <p:cNvSpPr/>
          <p:nvPr/>
        </p:nvSpPr>
        <p:spPr>
          <a:xfrm>
            <a:off x="3457302" y="1691640"/>
            <a:ext cx="256032" cy="320040"/>
          </a:xfrm>
          <a:prstGeom prst="ca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13334" y="1143000"/>
            <a:ext cx="1417755" cy="1417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13334" y="1143000"/>
            <a:ext cx="1417755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86486" y="1325880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C0D0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3334" y="1563624"/>
            <a:ext cx="14177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9054" y="2020824"/>
            <a:ext cx="132631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8C0D0"/>
                </a:solidFill>
                <a:latin typeface="Calibri"/>
              </a:rPr>
              <a:t>+6 features</a:t>
            </a:r>
          </a:p>
        </p:txBody>
      </p:sp>
      <p:sp>
        <p:nvSpPr>
          <p:cNvPr id="25" name="Can 24"/>
          <p:cNvSpPr/>
          <p:nvPr/>
        </p:nvSpPr>
        <p:spPr>
          <a:xfrm>
            <a:off x="5131089" y="1691640"/>
            <a:ext cx="256032" cy="320040"/>
          </a:xfrm>
          <a:prstGeom prst="ca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87121" y="1143000"/>
            <a:ext cx="1417755" cy="1417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7121" y="1143000"/>
            <a:ext cx="1417755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60273" y="1325880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C0D0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87121" y="1563624"/>
            <a:ext cx="14177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32841" y="2020824"/>
            <a:ext cx="132631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8C0D0"/>
                </a:solidFill>
                <a:latin typeface="Calibri"/>
              </a:rPr>
              <a:t>80/20 stratified</a:t>
            </a:r>
          </a:p>
        </p:txBody>
      </p:sp>
      <p:sp>
        <p:nvSpPr>
          <p:cNvPr id="31" name="Can 30"/>
          <p:cNvSpPr/>
          <p:nvPr/>
        </p:nvSpPr>
        <p:spPr>
          <a:xfrm>
            <a:off x="6804876" y="1691640"/>
            <a:ext cx="256032" cy="320040"/>
          </a:xfrm>
          <a:prstGeom prst="ca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60908" y="1143000"/>
            <a:ext cx="1417755" cy="1417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60908" y="1143000"/>
            <a:ext cx="1417755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4060" y="1325880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C0D0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60908" y="1563624"/>
            <a:ext cx="14177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06628" y="2020824"/>
            <a:ext cx="132631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8C0D0"/>
                </a:solidFill>
                <a:latin typeface="Calibri"/>
              </a:rPr>
              <a:t>StandardScaler
(LR only)</a:t>
            </a:r>
          </a:p>
        </p:txBody>
      </p:sp>
      <p:sp>
        <p:nvSpPr>
          <p:cNvPr id="37" name="Can 36"/>
          <p:cNvSpPr/>
          <p:nvPr/>
        </p:nvSpPr>
        <p:spPr>
          <a:xfrm>
            <a:off x="8478663" y="1691640"/>
            <a:ext cx="256032" cy="320040"/>
          </a:xfrm>
          <a:prstGeom prst="ca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34695" y="1143000"/>
            <a:ext cx="1417755" cy="1417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34695" y="1143000"/>
            <a:ext cx="1417755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07847" y="1325880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C0D0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4695" y="1563624"/>
            <a:ext cx="14177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CV+Tune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0415" y="2020824"/>
            <a:ext cx="132631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8C0D0"/>
                </a:solidFill>
                <a:latin typeface="Calibri"/>
              </a:rPr>
              <a:t>GridSearchCV
5-fold</a:t>
            </a:r>
          </a:p>
        </p:txBody>
      </p:sp>
      <p:sp>
        <p:nvSpPr>
          <p:cNvPr id="43" name="Can 42"/>
          <p:cNvSpPr/>
          <p:nvPr/>
        </p:nvSpPr>
        <p:spPr>
          <a:xfrm>
            <a:off x="10152450" y="1691640"/>
            <a:ext cx="256032" cy="320040"/>
          </a:xfrm>
          <a:prstGeom prst="ca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08482" y="1143000"/>
            <a:ext cx="1417755" cy="1417320"/>
          </a:xfrm>
          <a:prstGeom prst="rect">
            <a:avLst/>
          </a:prstGeom>
          <a:solidFill>
            <a:srgbClr val="004E6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08482" y="1143000"/>
            <a:ext cx="1417755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81634" y="1325880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C0D0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08482" y="1563624"/>
            <a:ext cx="14177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Evaluate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54202" y="2020824"/>
            <a:ext cx="132631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8C0D0"/>
                </a:solidFill>
                <a:latin typeface="Calibri"/>
              </a:rPr>
              <a:t>Test metrics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2880360"/>
            <a:ext cx="1146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A8C0D0"/>
                </a:solidFill>
                <a:latin typeface="Calibri"/>
              </a:rPr>
              <a:t>All four models tuned independently via GridSearchCV · 5-fold stratified CV scored on F1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383280"/>
            <a:ext cx="2286000" cy="1005840"/>
          </a:xfrm>
          <a:prstGeom prst="rect">
            <a:avLst/>
          </a:prstGeom>
          <a:solidFill>
            <a:srgbClr val="0F263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34290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0C8FF"/>
                </a:solidFill>
                <a:latin typeface="Calibri"/>
              </a:rPr>
              <a:t>21,891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38862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8C0D0"/>
                </a:solidFill>
                <a:latin typeface="Calibri"/>
              </a:rPr>
              <a:t>unique records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17520" y="3383280"/>
            <a:ext cx="2286000" cy="1005840"/>
          </a:xfrm>
          <a:prstGeom prst="rect">
            <a:avLst/>
          </a:prstGeom>
          <a:solidFill>
            <a:srgbClr val="0F263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17520" y="34290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0C8FF"/>
                </a:solidFill>
                <a:latin typeface="Calibri"/>
              </a:rPr>
              <a:t>5-fold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7520" y="38862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8C0D0"/>
                </a:solidFill>
                <a:latin typeface="Calibri"/>
              </a:rPr>
              <a:t>cross-validation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0" y="3383280"/>
            <a:ext cx="2286000" cy="1005840"/>
          </a:xfrm>
          <a:prstGeom prst="rect">
            <a:avLst/>
          </a:prstGeom>
          <a:solidFill>
            <a:srgbClr val="0F263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0" y="34290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0C8FF"/>
                </a:solidFill>
                <a:latin typeface="Calibri"/>
              </a:rPr>
              <a:t>80 / 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8862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8C0D0"/>
                </a:solidFill>
                <a:latin typeface="Calibri"/>
              </a:rPr>
              <a:t>train / test split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1040" y="3383280"/>
            <a:ext cx="2286000" cy="1005840"/>
          </a:xfrm>
          <a:prstGeom prst="rect">
            <a:avLst/>
          </a:prstGeom>
          <a:solidFill>
            <a:srgbClr val="0F263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21040" y="34290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0C8FF"/>
                </a:solidFill>
                <a:latin typeface="Calibr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38862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8C0D0"/>
                </a:solidFill>
                <a:latin typeface="Calibri"/>
              </a:rPr>
              <a:t>models evaluated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1826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Machine Learning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731520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5074920" cy="2331720"/>
          </a:xfrm>
          <a:prstGeom prst="rect">
            <a:avLst/>
          </a:prstGeom>
          <a:solidFill>
            <a:srgbClr val="0F263D"/>
          </a:solidFill>
          <a:ln w="19050">
            <a:solidFill>
              <a:srgbClr val="1A6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777240"/>
            <a:ext cx="5074920" cy="292608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795528"/>
            <a:ext cx="50749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Linear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61288"/>
            <a:ext cx="4800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72768"/>
            <a:ext cx="4800600" cy="13716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4800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A8C0D0"/>
                </a:solidFill>
                <a:latin typeface="Calibri"/>
              </a:rPr>
              <a:t>Linear decision boundary via log-odds.
Fast baseline, requires feature scaling.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50008"/>
            <a:ext cx="4800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00C8FF"/>
                </a:solidFill>
                <a:latin typeface="Calibri"/>
              </a:rPr>
              <a:t>Best: C=0.01, solver=lbfgs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651760"/>
            <a:ext cx="10058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670048"/>
            <a:ext cx="1005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Acc: 0.7753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651760"/>
            <a:ext cx="10058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2670048"/>
            <a:ext cx="1005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F1: 0.8533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777240"/>
            <a:ext cx="5074920" cy="2331720"/>
          </a:xfrm>
          <a:prstGeom prst="rect">
            <a:avLst/>
          </a:prstGeom>
          <a:solidFill>
            <a:srgbClr val="0F263D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777240"/>
            <a:ext cx="507492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795528"/>
            <a:ext cx="50749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1161288"/>
            <a:ext cx="4800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Decision Tree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1572768"/>
            <a:ext cx="4800600" cy="1371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1618488"/>
            <a:ext cx="4800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A8C0D0"/>
                </a:solidFill>
                <a:latin typeface="Calibri"/>
              </a:rPr>
              <a:t>Greedy axis-aligned splits.
Interpretable, no scaling needed.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2350008"/>
            <a:ext cx="4800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00C8FF"/>
                </a:solidFill>
                <a:latin typeface="Calibri"/>
              </a:rPr>
              <a:t>Best: max_depth=10, min_leaf=1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2651760"/>
            <a:ext cx="10058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2670048"/>
            <a:ext cx="1005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Acc: 0.8022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2651760"/>
            <a:ext cx="10058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2670048"/>
            <a:ext cx="1005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F1: 0.8667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73552"/>
            <a:ext cx="5074920" cy="2331720"/>
          </a:xfrm>
          <a:prstGeom prst="rect">
            <a:avLst/>
          </a:prstGeom>
          <a:solidFill>
            <a:srgbClr val="0F263D"/>
          </a:solidFill>
          <a:ln w="19050">
            <a:solidFill>
              <a:srgbClr val="6A1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273552"/>
            <a:ext cx="5074920" cy="292608"/>
          </a:xfrm>
          <a:prstGeom prst="rect">
            <a:avLst/>
          </a:prstGeom>
          <a:solidFill>
            <a:srgbClr val="6A1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291840"/>
            <a:ext cx="50749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Ensemble · Bagging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657600"/>
            <a:ext cx="4800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069080"/>
            <a:ext cx="4800600" cy="13716"/>
          </a:xfrm>
          <a:prstGeom prst="rect">
            <a:avLst/>
          </a:prstGeom>
          <a:solidFill>
            <a:srgbClr val="6A1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114800"/>
            <a:ext cx="4800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A8C0D0"/>
                </a:solidFill>
                <a:latin typeface="Calibri"/>
              </a:rPr>
              <a:t>200 decorrelated trees.
Averages predictions to reduce variance.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846320"/>
            <a:ext cx="4800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00C8FF"/>
                </a:solidFill>
                <a:latin typeface="Calibri"/>
              </a:rPr>
              <a:t>Best: n_est=200, max_depth=15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5148072"/>
            <a:ext cx="10058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0" y="5166360"/>
            <a:ext cx="1005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Acc: 0.8102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5148072"/>
            <a:ext cx="10058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5166360"/>
            <a:ext cx="1005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F1: 0.8740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3273552"/>
            <a:ext cx="5074920" cy="2331720"/>
          </a:xfrm>
          <a:prstGeom prst="rect">
            <a:avLst/>
          </a:prstGeom>
          <a:solidFill>
            <a:srgbClr val="0F263D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60720" y="3273552"/>
            <a:ext cx="5074920" cy="2926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0" y="3291840"/>
            <a:ext cx="50749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Ensemble · Boosting  ★ BEST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3657600"/>
            <a:ext cx="4800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Gradient Boosting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97880" y="4069080"/>
            <a:ext cx="4800600" cy="1371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97880" y="4114800"/>
            <a:ext cx="4800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A8C0D0"/>
                </a:solidFill>
                <a:latin typeface="Calibri"/>
              </a:rPr>
              <a:t>Sequentially corrects residuals.
Best balance of precision and recall.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97880" y="4846320"/>
            <a:ext cx="4800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00C8FF"/>
                </a:solidFill>
                <a:latin typeface="Calibri"/>
              </a:rPr>
              <a:t>Best: lr=0.1, depth=4, n_est=200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5148072"/>
            <a:ext cx="10058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0" y="5166360"/>
            <a:ext cx="1005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Acc: 0.8198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92640" y="5148072"/>
            <a:ext cx="10058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5166360"/>
            <a:ext cx="1005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F1: 0.8801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1826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Results — All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853440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777240"/>
          <a:ext cx="612647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11"/>
                <a:gridCol w="863833"/>
                <a:gridCol w="863833"/>
                <a:gridCol w="863833"/>
                <a:gridCol w="863833"/>
                <a:gridCol w="863833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F1-Score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>
                    <a:solidFill>
                      <a:srgbClr val="004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0.8198</a:t>
                      </a:r>
                    </a:p>
                  </a:txBody>
                  <a:tcPr>
                    <a:solidFill>
                      <a:srgbClr val="004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0.8505</a:t>
                      </a:r>
                    </a:p>
                  </a:txBody>
                  <a:tcPr>
                    <a:solidFill>
                      <a:srgbClr val="004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0.9118</a:t>
                      </a:r>
                    </a:p>
                  </a:txBody>
                  <a:tcPr>
                    <a:solidFill>
                      <a:srgbClr val="004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0.8801</a:t>
                      </a:r>
                    </a:p>
                  </a:txBody>
                  <a:tcPr>
                    <a:solidFill>
                      <a:srgbClr val="004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0.8873</a:t>
                      </a:r>
                    </a:p>
                  </a:txBody>
                  <a:tcPr>
                    <a:solidFill>
                      <a:srgbClr val="004E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0.8102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0.8429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0.9074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0.8740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0.8793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0.8022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0.8476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0.8866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0.8667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0.8478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0.7753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0.8101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0.9014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0.8533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8C0D0"/>
                          </a:solidFill>
                          <a:latin typeface="Calibri"/>
                        </a:rPr>
                        <a:t>0.8329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00400"/>
            <a:ext cx="6126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00C8FF"/>
                </a:solidFill>
                <a:latin typeface="Calibri"/>
              </a:rPr>
              <a:t>★  Gradient Boosting: highest accuracy, F1, and AUC across all four models</a:t>
            </a:r>
          </a:p>
        </p:txBody>
      </p:sp>
      <p:pic>
        <p:nvPicPr>
          <p:cNvPr id="10" name="Picture 9" descr="model_comparison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777240"/>
            <a:ext cx="5196840" cy="2286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3630168"/>
            <a:ext cx="115519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703320"/>
            <a:ext cx="111861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A8C0D0"/>
                </a:solidFill>
                <a:latin typeface="Calibri"/>
              </a:rPr>
              <a:t>Recall is the primary metric — a missed phishing page is more dangerous than a false alarm.
All four models achieve recall above 0.886, demonstrating strong detection capability.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1826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Best Model — Gradient Boosting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975360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7760" y="804672"/>
            <a:ext cx="2560320" cy="914400"/>
          </a:xfrm>
          <a:prstGeom prst="rect">
            <a:avLst/>
          </a:prstGeom>
          <a:solidFill>
            <a:srgbClr val="004E6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7760" y="82296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i="0">
                <a:solidFill>
                  <a:srgbClr val="00C8FF"/>
                </a:solidFill>
                <a:latin typeface="Calibri"/>
              </a:rPr>
              <a:t>0.8801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60" y="1325879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8C0D0"/>
                </a:solidFill>
                <a:latin typeface="Calibri"/>
              </a:rPr>
              <a:t>F1-Score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15840" y="804672"/>
            <a:ext cx="2560320" cy="914400"/>
          </a:xfrm>
          <a:prstGeom prst="rect">
            <a:avLst/>
          </a:prstGeom>
          <a:solidFill>
            <a:srgbClr val="004E6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5840" y="82296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i="0">
                <a:solidFill>
                  <a:srgbClr val="00C8FF"/>
                </a:solidFill>
                <a:latin typeface="Calibri"/>
              </a:rPr>
              <a:t>0.9118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5840" y="1325879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8C0D0"/>
                </a:solidFill>
                <a:latin typeface="Calibri"/>
              </a:rPr>
              <a:t>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804672"/>
            <a:ext cx="2560320" cy="914400"/>
          </a:xfrm>
          <a:prstGeom prst="rect">
            <a:avLst/>
          </a:prstGeom>
          <a:solidFill>
            <a:srgbClr val="004E6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82296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i="0">
                <a:solidFill>
                  <a:srgbClr val="00C8FF"/>
                </a:solidFill>
                <a:latin typeface="Calibri"/>
              </a:rPr>
              <a:t>0.8873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325879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8C0D0"/>
                </a:solidFill>
                <a:latin typeface="Calibri"/>
              </a:rPr>
              <a:t>ROC-AUC</a:t>
            </a:r>
          </a:p>
        </p:txBody>
      </p:sp>
      <p:pic>
        <p:nvPicPr>
          <p:cNvPr id="17" name="Picture 16" descr="confusion_matrix_bes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947672"/>
            <a:ext cx="5684520" cy="4498848"/>
          </a:xfrm>
          <a:prstGeom prst="rect">
            <a:avLst/>
          </a:prstGeom>
        </p:spPr>
      </p:pic>
      <p:pic>
        <p:nvPicPr>
          <p:cNvPr id="18" name="Picture 17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947672"/>
            <a:ext cx="5684520" cy="44988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1826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Comparison with Prior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097280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822960"/>
          <a:ext cx="1146047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8144"/>
                <a:gridCol w="3208934"/>
                <a:gridCol w="2750515"/>
                <a:gridCol w="2062886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Best Model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Top Acc.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A8C0D0"/>
                          </a:solidFill>
                          <a:latin typeface="Calibri"/>
                        </a:rPr>
                        <a:t>Blum et al. [2] (2010)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8C0D0"/>
                          </a:solidFill>
                          <a:latin typeface="Calibri"/>
                        </a:rPr>
                        <a:t>Lexical URL (count-based)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8C0D0"/>
                          </a:solidFill>
                          <a:latin typeface="Calibri"/>
                        </a:rPr>
                        <a:t>Online learner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8C0D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A8C0D0"/>
                          </a:solidFill>
                          <a:latin typeface="Calibri"/>
                        </a:rPr>
                        <a:t>Sahingoz et al. [3] (2019)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8C0D0"/>
                          </a:solidFill>
                          <a:latin typeface="Calibri"/>
                        </a:rPr>
                        <a:t>NLP + hybrid URL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8C0D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8C0D0"/>
                          </a:solidFill>
                          <a:latin typeface="Calibri"/>
                        </a:rPr>
                        <a:t>97.98%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A8C0D0"/>
                          </a:solidFill>
                          <a:latin typeface="Calibri"/>
                        </a:rPr>
                        <a:t>Awasthi &amp; Goel [4] (2022)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8C0D0"/>
                          </a:solidFill>
                          <a:latin typeface="Calibri"/>
                        </a:rPr>
                        <a:t>30 URL-structural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8C0D0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8C0D0"/>
                          </a:solidFill>
                          <a:latin typeface="Calibri"/>
                        </a:rPr>
                        <a:t>95.92%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A8C0D0"/>
                          </a:solidFill>
                          <a:latin typeface="Calibri"/>
                        </a:rPr>
                        <a:t>Alnemari et al. [5] (2023)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8C0D0"/>
                          </a:solidFill>
                          <a:latin typeface="Calibri"/>
                        </a:rPr>
                        <a:t>30 URL-structural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8C0D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8C0D0"/>
                          </a:solidFill>
                          <a:latin typeface="Calibri"/>
                        </a:rPr>
                        <a:t>97.30%</a:t>
                      </a:r>
                    </a:p>
                  </a:txBody>
                  <a:tcPr>
                    <a:solidFill>
                      <a:srgbClr val="0F26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C8FF"/>
                          </a:solidFill>
                          <a:latin typeface="Calibri"/>
                        </a:rPr>
                        <a:t>This Work</a:t>
                      </a:r>
                    </a:p>
                  </a:txBody>
                  <a:tcPr>
                    <a:solidFill>
                      <a:srgbClr val="004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C8FF"/>
                          </a:solidFill>
                          <a:latin typeface="Calibri"/>
                        </a:rPr>
                        <a:t>19 lexical + 6 engineered</a:t>
                      </a:r>
                    </a:p>
                  </a:txBody>
                  <a:tcPr>
                    <a:solidFill>
                      <a:srgbClr val="004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C8FF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>
                    <a:solidFill>
                      <a:srgbClr val="004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C8FF"/>
                          </a:solidFill>
                          <a:latin typeface="Calibri"/>
                        </a:rPr>
                        <a:t>81.98% *</a:t>
                      </a:r>
                    </a:p>
                  </a:txBody>
                  <a:tcPr>
                    <a:solidFill>
                      <a:srgbClr val="004E6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297680"/>
            <a:ext cx="11460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A8C0D0"/>
                </a:solidFill>
                <a:latin typeface="Calibri"/>
              </a:rPr>
              <a:t>* Different datasets and feature sets — not a direct benchmark comparison.
Our method uses URL-only lexical features: lighter, no content scraping required.
F1-Score = 0.880 and Recall = 0.912 remain competitive for URL-only approaches.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1826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36576" cy="9509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0C8FF"/>
                </a:solidFill>
                <a:latin typeface="Calibri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8686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Gradient Boosting achieved the best results: F1=0.880, Recall=0.912, AUC=0.887.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8686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All four models competitive (F1: 0.853–0.880); hyperparameter tuning lifted Decision Tree F1 from 0.791 to 0.867.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00784"/>
            <a:ext cx="8686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URL lexical features + 6 engineered indicators provide effective, lightweight phishing detection.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48840"/>
            <a:ext cx="36576" cy="658368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48840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FA000"/>
                </a:solidFill>
                <a:latin typeface="Calibri"/>
              </a:rP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50592"/>
            <a:ext cx="8686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URL-only features miss sophisticated phishing with clean-looking URLs.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61488"/>
            <a:ext cx="8686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Static dataset — 78K of 100K rows were duplicates; model may not generalise to fresh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9544"/>
            <a:ext cx="36576" cy="365760"/>
          </a:xfrm>
          <a:prstGeom prst="rect">
            <a:avLst/>
          </a:prstGeom>
          <a:solidFill>
            <a:srgbClr val="A8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09544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A8C0D0"/>
                </a:solidFill>
                <a:latin typeface="Calibri"/>
              </a:rPr>
              <a:t>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1296"/>
            <a:ext cx="8686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›  Expand features with host-based, DNS, SSL, and content signals; validate on live phishing feeds.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25840" y="5806440"/>
            <a:ext cx="3200400" cy="594360"/>
          </a:xfrm>
          <a:prstGeom prst="rect">
            <a:avLst/>
          </a:prstGeom>
          <a:solidFill>
            <a:srgbClr val="004E6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5840" y="5806440"/>
            <a:ext cx="3200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0C8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